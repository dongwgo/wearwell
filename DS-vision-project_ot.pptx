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10728655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800"/>
              </a:spcAft>
            </a:pPr>
            <a:r>
              <a:rPr sz="5400" b="1">
                <a:solidFill>
                  <a:srgbClr val="000000"/>
                </a:solidFill>
                <a:latin typeface="Helvetica Neue"/>
              </a:rPr>
              <a:t>Computer Vision Practicum</a:t>
            </a:r>
          </a:p>
          <a:p>
            <a:pPr algn="ctr">
              <a:spcAft>
                <a:spcPts val="0"/>
              </a:spcAft>
            </a:pPr>
            <a:r>
              <a:rPr sz="2600" b="0">
                <a:solidFill>
                  <a:srgbClr val="000000"/>
                </a:solidFill>
                <a:latin typeface="Helvetica Neue"/>
              </a:rPr>
              <a:t>Team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60520"/>
            <a:ext cx="1072865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Helvetica Neue"/>
              </a:rPr>
              <a:t>Instructor: Hanbyul Joo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Helvetica Neue"/>
              </a:rPr>
              <a:t>SNU Visual Computing Lab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Helvetica Neue"/>
              </a:rPr>
              <a:t>Dept. of Computer Science and Engineering</a:t>
            </a:r>
          </a:p>
          <a:p>
            <a:pPr algn="ctr">
              <a:spcAft>
                <a:spcPts val="400"/>
              </a:spcAft>
            </a:pPr>
            <a:endParaRPr sz="1500" b="1">
              <a:solidFill>
                <a:srgbClr val="000000"/>
              </a:solidFill>
              <a:latin typeface="Helvetica Neue"/>
            </a:endParaRP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Helvetica Neue"/>
              </a:rPr>
              <a:t>Samsung Electronics DS  ·  Aug 24–28,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66928"/>
            <a:ext cx="1045433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000000"/>
                </a:solidFill>
                <a:latin typeface="Helvetica Neue"/>
              </a:rPr>
              <a:t>Project Goal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Helvetica Neue"/>
              </a:rPr>
              <a:t>Build a meaningful and fun application using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54335" cy="33804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Strong open-source tools are already out there</a:t>
            </a:r>
          </a:p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</a:t>
            </a:r>
            <a:r>
              <a:rPr sz="2000" b="1" dirty="0">
                <a:solidFill>
                  <a:srgbClr val="000000"/>
                </a:solidFill>
                <a:latin typeface="Helvetica Neue"/>
              </a:rPr>
              <a:t>Combining them well gets you surprisingly far</a:t>
            </a:r>
          </a:p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Best project last time: playing a game with a webcam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6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–  Ordinary tools, but made genuinely playable</a:t>
            </a:r>
          </a:p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Common ones: dance, golf swing, workout PT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6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–  Accuracy is harder than it looks, and results look alike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6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–  Visual effects are where these differentiate</a:t>
            </a:r>
          </a:p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In five days: no new data, no training from scratch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66928"/>
            <a:ext cx="1045433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000000"/>
                </a:solidFill>
                <a:latin typeface="Helvetica Neue"/>
              </a:rPr>
              <a:t>Evaluation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Helvetica Neue"/>
              </a:rPr>
              <a:t>Four things we look 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54335" cy="2246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</a:t>
            </a:r>
            <a:r>
              <a:rPr sz="2000" b="1" dirty="0">
                <a:solidFill>
                  <a:srgbClr val="000000"/>
                </a:solidFill>
                <a:latin typeface="Helvetica Neue"/>
              </a:rPr>
              <a:t>Practicality</a:t>
            </a:r>
            <a:r>
              <a:rPr sz="2000" b="0" dirty="0">
                <a:solidFill>
                  <a:srgbClr val="000000"/>
                </a:solidFill>
                <a:latin typeface="Helvetica Neue"/>
              </a:rPr>
              <a:t>  —  is this a tool someone would actually use</a:t>
            </a:r>
          </a:p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</a:t>
            </a:r>
            <a:r>
              <a:rPr sz="2000" b="1" dirty="0">
                <a:solidFill>
                  <a:srgbClr val="000000"/>
                </a:solidFill>
                <a:latin typeface="Helvetica Neue"/>
              </a:rPr>
              <a:t>Not trivial</a:t>
            </a:r>
            <a:r>
              <a:rPr sz="2000" b="0" dirty="0">
                <a:solidFill>
                  <a:srgbClr val="000000"/>
                </a:solidFill>
                <a:latin typeface="Helvetica Neue"/>
              </a:rPr>
              <a:t>  —  could anyone build it, or is your strength in it</a:t>
            </a:r>
          </a:p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</a:t>
            </a:r>
            <a:r>
              <a:rPr sz="2000" b="1" dirty="0">
                <a:solidFill>
                  <a:srgbClr val="000000"/>
                </a:solidFill>
                <a:latin typeface="Helvetica Neue"/>
              </a:rPr>
              <a:t>Creative idea</a:t>
            </a:r>
            <a:r>
              <a:rPr sz="2000" b="0" dirty="0">
                <a:solidFill>
                  <a:srgbClr val="000000"/>
                </a:solidFill>
                <a:latin typeface="Helvetica Neue"/>
              </a:rPr>
              <a:t>  —  something we have not seen before</a:t>
            </a:r>
          </a:p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</a:t>
            </a:r>
            <a:r>
              <a:rPr sz="2000" b="1" dirty="0">
                <a:solidFill>
                  <a:srgbClr val="000000"/>
                </a:solidFill>
                <a:latin typeface="Helvetica Neue"/>
              </a:rPr>
              <a:t>Problem solving</a:t>
            </a:r>
            <a:r>
              <a:rPr sz="2000" b="0" dirty="0">
                <a:solidFill>
                  <a:srgbClr val="000000"/>
                </a:solidFill>
                <a:latin typeface="Helvetica Neue"/>
              </a:rPr>
              <a:t>  —  how you handled what you actually hit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6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–  And how much your solution improved it. Show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66928"/>
            <a:ext cx="1045433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000000"/>
                </a:solidFill>
                <a:latin typeface="Helvetica Neue"/>
              </a:rPr>
              <a:t>Schedule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Helvetica Neue"/>
              </a:rPr>
              <a:t>Five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54335" cy="2410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</a:t>
            </a:r>
            <a:r>
              <a:rPr sz="2000" b="1" dirty="0">
                <a:solidFill>
                  <a:srgbClr val="000000"/>
                </a:solidFill>
                <a:latin typeface="Helvetica Neue"/>
              </a:rPr>
              <a:t>Mon</a:t>
            </a:r>
            <a:r>
              <a:rPr sz="2000" b="0" dirty="0">
                <a:solidFill>
                  <a:srgbClr val="000000"/>
                </a:solidFill>
                <a:latin typeface="Helvetica Neue"/>
              </a:rPr>
              <a:t>   Try the tools, form teams, write </a:t>
            </a:r>
            <a:r>
              <a:rPr sz="2000" b="1" dirty="0">
                <a:solidFill>
                  <a:srgbClr val="000000"/>
                </a:solidFill>
                <a:latin typeface="Helvetica Neue"/>
              </a:rPr>
              <a:t>IN → OUT</a:t>
            </a:r>
            <a:r>
              <a:rPr sz="2000" b="0" dirty="0">
                <a:solidFill>
                  <a:srgbClr val="000000"/>
                </a:solidFill>
                <a:latin typeface="Helvetica Neue"/>
              </a:rPr>
              <a:t> in one line</a:t>
            </a:r>
          </a:p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</a:t>
            </a:r>
            <a:r>
              <a:rPr sz="2000" b="1" dirty="0">
                <a:solidFill>
                  <a:srgbClr val="000000"/>
                </a:solidFill>
                <a:latin typeface="Helvetica Neue"/>
              </a:rPr>
              <a:t>Tue</a:t>
            </a:r>
            <a:r>
              <a:rPr sz="2000" b="0" dirty="0">
                <a:solidFill>
                  <a:srgbClr val="000000"/>
                </a:solidFill>
                <a:latin typeface="Helvetica Neue"/>
              </a:rPr>
              <a:t>   Get one full loop running, however rough</a:t>
            </a:r>
          </a:p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</a:t>
            </a:r>
            <a:r>
              <a:rPr sz="2000" b="1" dirty="0">
                <a:solidFill>
                  <a:srgbClr val="000000"/>
                </a:solidFill>
                <a:latin typeface="Helvetica Neue"/>
              </a:rPr>
              <a:t>Wed–Thu</a:t>
            </a:r>
            <a:r>
              <a:rPr sz="2000" b="0" dirty="0">
                <a:solidFill>
                  <a:srgbClr val="000000"/>
                </a:solidFill>
                <a:latin typeface="Helvetica Neue"/>
              </a:rPr>
              <a:t>   Fix what is slow and what is wrong</a:t>
            </a:r>
          </a:p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</a:t>
            </a:r>
            <a:r>
              <a:rPr sz="2000" b="1" dirty="0">
                <a:solidFill>
                  <a:srgbClr val="000000"/>
                </a:solidFill>
                <a:latin typeface="Helvetica Neue"/>
              </a:rPr>
              <a:t>Fri</a:t>
            </a:r>
            <a:r>
              <a:rPr sz="2000" b="0" dirty="0">
                <a:solidFill>
                  <a:srgbClr val="000000"/>
                </a:solidFill>
                <a:latin typeface="Helvetica Neue"/>
              </a:rPr>
              <a:t>   Presentation. </a:t>
            </a:r>
            <a:r>
              <a:rPr sz="2000" b="1" dirty="0">
                <a:solidFill>
                  <a:srgbClr val="000000"/>
                </a:solidFill>
                <a:latin typeface="Helvetica Neue"/>
              </a:rPr>
              <a:t>A live demo is not required.</a:t>
            </a:r>
            <a:r>
              <a:rPr lang="ko-KR" altLang="en-US" sz="2000" b="1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  <a:latin typeface="Helvetica Neue"/>
              </a:rPr>
              <a:t>(But should be a plus)</a:t>
            </a:r>
            <a:endParaRPr sz="2000" b="1" dirty="0">
              <a:solidFill>
                <a:srgbClr val="000000"/>
              </a:solidFill>
              <a:latin typeface="Helvetica Neue"/>
            </a:endParaRPr>
          </a:p>
          <a:p>
            <a:pPr>
              <a:spcBef>
                <a:spcPts val="800"/>
              </a:spcBef>
              <a:spcAft>
                <a:spcPts val="900"/>
              </a:spcAft>
            </a:pPr>
            <a:r>
              <a:rPr sz="2000" b="0" dirty="0">
                <a:solidFill>
                  <a:srgbClr val="000000"/>
                </a:solidFill>
                <a:latin typeface="Helvetica Neue"/>
              </a:rPr>
              <a:t>•  Tell us what did not work and why</a:t>
            </a:r>
            <a:r>
              <a:rPr lang="en-US" sz="2000" b="0" dirty="0">
                <a:solidFill>
                  <a:srgbClr val="000000"/>
                </a:solidFill>
                <a:latin typeface="Helvetica Neue"/>
              </a:rPr>
              <a:t>. How you solved it.</a:t>
            </a:r>
            <a:endParaRPr sz="2000" b="0" dirty="0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5897880"/>
            <a:ext cx="10454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000000"/>
                </a:solidFill>
                <a:latin typeface="Helvetica Neue"/>
              </a:rPr>
              <a:t>Project board  —  start from the green 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269</Words>
  <Application>Microsoft Macintosh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주한별</cp:lastModifiedBy>
  <cp:revision>4</cp:revision>
  <dcterms:created xsi:type="dcterms:W3CDTF">2013-01-27T09:14:16Z</dcterms:created>
  <dcterms:modified xsi:type="dcterms:W3CDTF">2026-08-24T00:26:52Z</dcterms:modified>
  <cp:category/>
</cp:coreProperties>
</file>